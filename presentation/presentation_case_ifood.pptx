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27aa8a503_0_2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27aa8a503_0_25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27aa8a503_0_25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27aa8a503_0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927aa8a503_0_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927aa8a503_0_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7aa8a503_0_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27aa8a503_0_8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27aa8a503_0_8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27aa8a503_0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927aa8a503_0_1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27aa8a503_0_1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7aa8a503_0_1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927aa8a503_0_10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27aa8a503_0_10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27aa8a503_0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27aa8a503_0_1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27aa8a503_0_1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85750" y="228600"/>
            <a:ext cx="438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285750" y="590550"/>
            <a:ext cx="8744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C6C7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85353" y="139125"/>
            <a:ext cx="7349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Arial"/>
              <a:buNone/>
            </a:pPr>
            <a:r>
              <a:rPr b="1" lang="pt-BR" sz="3300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Estratégia Ofertas e cupons</a:t>
            </a:r>
            <a:endParaRPr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p15" title="ifood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901" y="228598"/>
            <a:ext cx="951700" cy="5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185350" y="1647800"/>
            <a:ext cx="2721300" cy="326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94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Desafio</a:t>
            </a:r>
            <a:endParaRPr b="1" sz="1294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94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9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Ofertas e cupons são ferramentas importantes para aumentar o engajamento dos clientes, mas nem todos respondem da mesma forma. Diferentes perfis de consumo, canais de comunicação e tipos de oferta tornam ineficiente uma estratégia única para toda a base. O desafio é entender essas diferenças e direcionar ofertas de forma mais inteligente, aumentando conversão e retorno para o negócio.</a:t>
            </a:r>
            <a:endParaRPr sz="99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106137" y="1607550"/>
            <a:ext cx="2721300" cy="326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94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Solução Implementada</a:t>
            </a:r>
            <a:endParaRPr b="1" sz="1294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94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4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5"/>
              <a:buFont typeface="Montserrat"/>
              <a:buChar char="●"/>
            </a:pPr>
            <a:r>
              <a:rPr lang="pt-BR" sz="89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Aplicação de clusterização não supervisionada para segmentar os clientes com base em múltiplas variáveis comportamentais. </a:t>
            </a:r>
            <a:br>
              <a:rPr lang="pt-BR" sz="89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9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4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5"/>
              <a:buFont typeface="Montserrat"/>
              <a:buChar char="●"/>
            </a:pPr>
            <a:r>
              <a:rPr lang="pt-BR" sz="89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abordagem combina padronização dos dados, redução de dimensionalidade via PCA e K-Means para identificar grupos com padrões similares de comportamento, permitindo análise comparativa de conversão, GMV e eficiência de subsídios por cluster.</a:t>
            </a:r>
            <a:endParaRPr sz="89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026912" y="1577600"/>
            <a:ext cx="2721300" cy="326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94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Porque Clusterizar?</a:t>
            </a:r>
            <a:endParaRPr b="1" sz="1294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94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94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9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clusterização foi o melhor caminho porque o problema exigia identificar perfis latentes de comportamento em uma base heterogênea, sem rótulos prévios (target), com foco em decisões acionáveis e interpretáveis.</a:t>
            </a:r>
            <a:endParaRPr sz="99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9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Aqui a interpretabilidade do modelo é fundamental.</a:t>
            </a:r>
            <a:endParaRPr sz="99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" name="Google Shape;64;p15" title="Captura de Tela 2026-01-11 às 23.39.15.png"/>
          <p:cNvPicPr preferRelativeResize="0"/>
          <p:nvPr/>
        </p:nvPicPr>
        <p:blipFill rotWithShape="1">
          <a:blip r:embed="rId4">
            <a:alphaModFix/>
          </a:blip>
          <a:srcRect b="20779" l="0" r="72490" t="14039"/>
          <a:stretch/>
        </p:blipFill>
        <p:spPr>
          <a:xfrm>
            <a:off x="1277300" y="848800"/>
            <a:ext cx="537388" cy="50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 title="Captura de Tela 2026-01-11 às 23.39.15.png"/>
          <p:cNvPicPr preferRelativeResize="0"/>
          <p:nvPr/>
        </p:nvPicPr>
        <p:blipFill rotWithShape="1">
          <a:blip r:embed="rId4">
            <a:alphaModFix/>
          </a:blip>
          <a:srcRect b="12435" l="32946" r="36044" t="8506"/>
          <a:stretch/>
        </p:blipFill>
        <p:spPr>
          <a:xfrm>
            <a:off x="4104000" y="802373"/>
            <a:ext cx="640358" cy="6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 title="Captura de Tela 2026-01-11 às 23.39.15.png"/>
          <p:cNvPicPr preferRelativeResize="0"/>
          <p:nvPr/>
        </p:nvPicPr>
        <p:blipFill rotWithShape="1">
          <a:blip r:embed="rId4">
            <a:alphaModFix/>
          </a:blip>
          <a:srcRect b="10466" l="62329" r="0" t="4780"/>
          <a:stretch/>
        </p:blipFill>
        <p:spPr>
          <a:xfrm>
            <a:off x="6991754" y="787400"/>
            <a:ext cx="725669" cy="6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1225750" y="777850"/>
            <a:ext cx="640500" cy="64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103925" y="777850"/>
            <a:ext cx="725700" cy="64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024700" y="763649"/>
            <a:ext cx="725700" cy="64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5"/>
          <p:cNvCxnSpPr>
            <a:stCxn id="67" idx="4"/>
            <a:endCxn id="61" idx="0"/>
          </p:cNvCxnSpPr>
          <p:nvPr/>
        </p:nvCxnSpPr>
        <p:spPr>
          <a:xfrm>
            <a:off x="1546000" y="1422550"/>
            <a:ext cx="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5"/>
          <p:cNvCxnSpPr>
            <a:stCxn id="68" idx="4"/>
            <a:endCxn id="62" idx="0"/>
          </p:cNvCxnSpPr>
          <p:nvPr/>
        </p:nvCxnSpPr>
        <p:spPr>
          <a:xfrm>
            <a:off x="4466775" y="1422550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5"/>
          <p:cNvCxnSpPr>
            <a:stCxn id="69" idx="4"/>
            <a:endCxn id="63" idx="0"/>
          </p:cNvCxnSpPr>
          <p:nvPr/>
        </p:nvCxnSpPr>
        <p:spPr>
          <a:xfrm>
            <a:off x="7387550" y="1408349"/>
            <a:ext cx="0" cy="16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285750" y="228600"/>
            <a:ext cx="438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85750" y="590550"/>
            <a:ext cx="8744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C6C7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5353" y="139125"/>
            <a:ext cx="7349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Arial"/>
              <a:buNone/>
            </a:pPr>
            <a:r>
              <a:rPr b="1" i="0" lang="pt-BR" sz="3300" u="none" cap="none" strike="noStrike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Segmentação 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pt-BR" sz="3300" u="none" cap="none" strike="noStrike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Clientes</a:t>
            </a:r>
            <a:endParaRPr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16" title="ifood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901" y="228598"/>
            <a:ext cx="951700" cy="5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285738" y="1005734"/>
            <a:ext cx="1916400" cy="1991100"/>
          </a:xfrm>
          <a:prstGeom prst="roundRect">
            <a:avLst>
              <a:gd fmla="val 16667" name="adj"/>
            </a:avLst>
          </a:prstGeom>
          <a:solidFill>
            <a:srgbClr val="E5D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Montserrat"/>
                <a:ea typeface="Montserrat"/>
                <a:cs typeface="Montserrat"/>
                <a:sym typeface="Montserrat"/>
              </a:rPr>
              <a:t>Clientes Regulares de Valor Médio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Conversão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moderada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(~58%)</a:t>
            </a:r>
            <a:b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GMV total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alto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mas ticket médio baixo</a:t>
            </a:r>
            <a:b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Frequência e engajamento intermediários</a:t>
            </a:r>
            <a:b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de subsídio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positivo e estável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(~11x)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502488" y="1033080"/>
            <a:ext cx="1916400" cy="1991100"/>
          </a:xfrm>
          <a:prstGeom prst="roundRect">
            <a:avLst>
              <a:gd fmla="val 16667" name="adj"/>
            </a:avLst>
          </a:prstGeom>
          <a:solidFill>
            <a:srgbClr val="CBD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Clientes de Baixo Engajamento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Menor 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taxa média de conversão (~26%)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Baixo 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GMV e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baixo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ticket médio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Pouca interação com ofertas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razoável (~14x), mas limitado por volume individual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719225" y="1039955"/>
            <a:ext cx="1916400" cy="1991100"/>
          </a:xfrm>
          <a:prstGeom prst="roundRect">
            <a:avLst>
              <a:gd fmla="val 16667" name="adj"/>
            </a:avLst>
          </a:prstGeom>
          <a:solidFill>
            <a:srgbClr val="CDF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Clientes Altamente Engajados e Frequentes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Maior taxa média de conversão (~81%)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Maior GMV total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Alta frequência de transações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Forte resposta a ofertas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positivo, porém mais baixo (~8x)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945538" y="1039955"/>
            <a:ext cx="1916400" cy="1991100"/>
          </a:xfrm>
          <a:prstGeom prst="roundRect">
            <a:avLst>
              <a:gd fmla="val 16667" name="adj"/>
            </a:avLst>
          </a:prstGeom>
          <a:solidFill>
            <a:srgbClr val="F7F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Clientes Premium de Alta Eficiência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Conversão Média alta (~76%)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Maior ticket médio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Alto limite de crédito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extremamente elevado (~47x)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16" title="Captura de Tela 2026-01-11 às 17.31.49.png"/>
          <p:cNvPicPr preferRelativeResize="0"/>
          <p:nvPr/>
        </p:nvPicPr>
        <p:blipFill rotWithShape="1">
          <a:blip r:embed="rId4">
            <a:alphaModFix/>
          </a:blip>
          <a:srcRect b="0" l="48841" r="-5" t="0"/>
          <a:stretch/>
        </p:blipFill>
        <p:spPr>
          <a:xfrm>
            <a:off x="3185312" y="3360663"/>
            <a:ext cx="2596514" cy="150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Captura de Tela 2026-01-11 às 17.33.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5125" y="3285090"/>
            <a:ext cx="2596525" cy="151028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807275" y="843625"/>
            <a:ext cx="951600" cy="238200"/>
          </a:xfrm>
          <a:prstGeom prst="roundRect">
            <a:avLst>
              <a:gd fmla="val 16667" name="adj"/>
            </a:avLst>
          </a:prstGeom>
          <a:solidFill>
            <a:srgbClr val="7646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0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984875" y="801600"/>
            <a:ext cx="951600" cy="238200"/>
          </a:xfrm>
          <a:prstGeom prst="roundRect">
            <a:avLst>
              <a:gd fmla="val 16667" name="adj"/>
            </a:avLst>
          </a:prstGeom>
          <a:solidFill>
            <a:srgbClr val="688D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1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206413" y="801600"/>
            <a:ext cx="951600" cy="238200"/>
          </a:xfrm>
          <a:prstGeom prst="roundRect">
            <a:avLst>
              <a:gd fmla="val 16667" name="adj"/>
            </a:avLst>
          </a:prstGeom>
          <a:solidFill>
            <a:srgbClr val="6BC5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2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427975" y="885350"/>
            <a:ext cx="951600" cy="238200"/>
          </a:xfrm>
          <a:prstGeom prst="roundRect">
            <a:avLst>
              <a:gd fmla="val 16667" name="adj"/>
            </a:avLst>
          </a:prstGeom>
          <a:solidFill>
            <a:srgbClr val="F8E6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Cluster 3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16" title="Captura de Tela 2026-01-11 às 17.31.49.png"/>
          <p:cNvPicPr preferRelativeResize="0"/>
          <p:nvPr/>
        </p:nvPicPr>
        <p:blipFill rotWithShape="1">
          <a:blip r:embed="rId4">
            <a:alphaModFix/>
          </a:blip>
          <a:srcRect b="0" l="0" r="50428" t="0"/>
          <a:stretch/>
        </p:blipFill>
        <p:spPr>
          <a:xfrm>
            <a:off x="416219" y="3360675"/>
            <a:ext cx="2515799" cy="150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285750" y="228600"/>
            <a:ext cx="438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85750" y="590550"/>
            <a:ext cx="8744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C6C7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185353" y="139125"/>
            <a:ext cx="7349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Arial"/>
              <a:buNone/>
            </a:pPr>
            <a:r>
              <a:rPr b="1" i="0" lang="pt-BR" sz="3300" u="none" cap="none" strike="noStrike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Segmentação 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pt-BR" sz="3300" u="none" cap="none" strike="noStrike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Clientes</a:t>
            </a:r>
            <a:endParaRPr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p17" title="ifood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901" y="228598"/>
            <a:ext cx="951700" cy="5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364000" y="947187"/>
            <a:ext cx="1916400" cy="1805700"/>
          </a:xfrm>
          <a:prstGeom prst="roundRect">
            <a:avLst>
              <a:gd fmla="val 16667" name="adj"/>
            </a:avLst>
          </a:prstGeom>
          <a:solidFill>
            <a:srgbClr val="E5D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Montserrat"/>
                <a:ea typeface="Montserrat"/>
                <a:cs typeface="Montserrat"/>
                <a:sym typeface="Montserrat"/>
              </a:rPr>
              <a:t>Clientes Regulares de Valor Médio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Conversão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moderada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(~58%)</a:t>
            </a:r>
            <a:b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GMV total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alto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mas ticket médio baixo</a:t>
            </a:r>
            <a:b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Frequência e engajamento intermediários</a:t>
            </a:r>
            <a:b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de subsídio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positivo e estável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(~11x)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64000" y="3147425"/>
            <a:ext cx="1916400" cy="1868100"/>
          </a:xfrm>
          <a:prstGeom prst="roundRect">
            <a:avLst>
              <a:gd fmla="val 16667" name="adj"/>
            </a:avLst>
          </a:prstGeom>
          <a:solidFill>
            <a:srgbClr val="CBD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Clientes de Baixo Engajamento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Menor 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taxa de conversão (~26%)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Baixo 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GMV e </a:t>
            </a: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baixo</a:t>
            </a: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ticket médio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Pouca interação com ofertas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ROI razoável (~14x), mas limitado por volume individual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846400" y="742688"/>
            <a:ext cx="951600" cy="238200"/>
          </a:xfrm>
          <a:prstGeom prst="roundRect">
            <a:avLst>
              <a:gd fmla="val 16667" name="adj"/>
            </a:avLst>
          </a:prstGeom>
          <a:solidFill>
            <a:srgbClr val="7646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0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46388" y="2936400"/>
            <a:ext cx="951600" cy="238200"/>
          </a:xfrm>
          <a:prstGeom prst="roundRect">
            <a:avLst>
              <a:gd fmla="val 16667" name="adj"/>
            </a:avLst>
          </a:prstGeom>
          <a:solidFill>
            <a:srgbClr val="688D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1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7" title="Captura de Tela 2026-01-11 às 18.24.01.png"/>
          <p:cNvPicPr preferRelativeResize="0"/>
          <p:nvPr/>
        </p:nvPicPr>
        <p:blipFill rotWithShape="1">
          <a:blip r:embed="rId4">
            <a:alphaModFix/>
          </a:blip>
          <a:srcRect b="0" l="11527" r="0" t="0"/>
          <a:stretch/>
        </p:blipFill>
        <p:spPr>
          <a:xfrm>
            <a:off x="5211850" y="1229174"/>
            <a:ext cx="3585601" cy="32924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3115600" y="1850025"/>
            <a:ext cx="1686000" cy="218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Montserrat"/>
                <a:ea typeface="Montserrat"/>
                <a:cs typeface="Montserrat"/>
                <a:sym typeface="Montserrat"/>
              </a:rPr>
              <a:t>Clusters com maior oportunidade de melhoria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Montserrat"/>
                <a:ea typeface="Montserrat"/>
                <a:cs typeface="Montserrat"/>
                <a:sym typeface="Montserrat"/>
              </a:rPr>
              <a:t>Juntos representam </a:t>
            </a:r>
            <a:r>
              <a:rPr b="1" lang="pt-BR" sz="1000">
                <a:latin typeface="Montserrat"/>
                <a:ea typeface="Montserrat"/>
                <a:cs typeface="Montserrat"/>
                <a:sym typeface="Montserrat"/>
              </a:rPr>
              <a:t>75% da base </a:t>
            </a:r>
            <a:r>
              <a:rPr lang="pt-BR" sz="1000">
                <a:latin typeface="Montserrat"/>
                <a:ea typeface="Montserrat"/>
                <a:cs typeface="Montserrat"/>
                <a:sym typeface="Montserrat"/>
              </a:rPr>
              <a:t>de clientes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Montserrat"/>
                <a:ea typeface="Montserrat"/>
                <a:cs typeface="Montserrat"/>
                <a:sym typeface="Montserrat"/>
              </a:rPr>
              <a:t>Totalizando 12.855 clientes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" name="Google Shape;108;p17"/>
          <p:cNvCxnSpPr>
            <a:stCxn id="102" idx="3"/>
            <a:endCxn id="107" idx="1"/>
          </p:cNvCxnSpPr>
          <p:nvPr/>
        </p:nvCxnSpPr>
        <p:spPr>
          <a:xfrm>
            <a:off x="2280400" y="1850037"/>
            <a:ext cx="835200" cy="1094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7"/>
          <p:cNvCxnSpPr>
            <a:stCxn id="103" idx="3"/>
            <a:endCxn id="107" idx="1"/>
          </p:cNvCxnSpPr>
          <p:nvPr/>
        </p:nvCxnSpPr>
        <p:spPr>
          <a:xfrm flipH="1" rot="10800000">
            <a:off x="2280400" y="2944175"/>
            <a:ext cx="835200" cy="113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285750" y="228600"/>
            <a:ext cx="438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285750" y="590550"/>
            <a:ext cx="8744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C6C7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185353" y="139125"/>
            <a:ext cx="7349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Arial"/>
              <a:buNone/>
            </a:pPr>
            <a:r>
              <a:rPr b="1" lang="pt-BR" sz="2800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Análises geral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18" title="ifood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901" y="228598"/>
            <a:ext cx="951700" cy="5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278999" y="949550"/>
            <a:ext cx="8586000" cy="238200"/>
          </a:xfrm>
          <a:prstGeom prst="roundRect">
            <a:avLst>
              <a:gd fmla="val 16667" name="adj"/>
            </a:avLst>
          </a:prstGeom>
          <a:solidFill>
            <a:srgbClr val="7646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0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8" title="Captura de Tela 2026-01-11 às 22.29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475" y="1276850"/>
            <a:ext cx="4515150" cy="17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Captura de Tela 2026-01-11 às 22.30.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3540" y="1330750"/>
            <a:ext cx="2078685" cy="170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314324" y="3133400"/>
            <a:ext cx="8586000" cy="238200"/>
          </a:xfrm>
          <a:prstGeom prst="roundRect">
            <a:avLst>
              <a:gd fmla="val 16667" name="adj"/>
            </a:avLst>
          </a:prstGeom>
          <a:solidFill>
            <a:srgbClr val="688D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1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18" title="Captura de Tela 2026-01-11 às 22.35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4425" y="3384725"/>
            <a:ext cx="4465203" cy="170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Captura de Tela 2026-01-11 às 22.36.0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6775" y="3408316"/>
            <a:ext cx="2078675" cy="1735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185350" y="553725"/>
            <a:ext cx="707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Foi utilizado o p_value para determina se a variável era significativa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285750" y="228600"/>
            <a:ext cx="438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185353" y="139125"/>
            <a:ext cx="7349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Arial"/>
              <a:buNone/>
            </a:pPr>
            <a:r>
              <a:rPr b="1" lang="pt-BR" sz="2800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Comparação Baixa x Alta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19" title="ifood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901" y="228598"/>
            <a:ext cx="951700" cy="5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278999" y="949550"/>
            <a:ext cx="8586000" cy="238200"/>
          </a:xfrm>
          <a:prstGeom prst="roundRect">
            <a:avLst>
              <a:gd fmla="val 16667" name="adj"/>
            </a:avLst>
          </a:prstGeom>
          <a:solidFill>
            <a:srgbClr val="7646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0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784850" y="1376650"/>
            <a:ext cx="4136400" cy="87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/>
              <a:t>Segmentação por Quartil: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 BAIXA Conversão (≤Q1=40%): 1,541 clientes (26.6%)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  MÉDIA Conversão (Q1-Q3):      2,728 clientes (47.0%)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  ALTA Conversão (≥Q3=75%):  1,530 clientes (26.4%)</a:t>
            </a:r>
            <a:endParaRPr sz="900"/>
          </a:p>
        </p:txBody>
      </p:sp>
      <p:sp>
        <p:nvSpPr>
          <p:cNvPr id="136" name="Google Shape;136;p19"/>
          <p:cNvSpPr/>
          <p:nvPr/>
        </p:nvSpPr>
        <p:spPr>
          <a:xfrm>
            <a:off x="5661775" y="1373650"/>
            <a:ext cx="2453100" cy="16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latin typeface="Montserrat"/>
                <a:ea typeface="Montserrat"/>
                <a:cs typeface="Montserrat"/>
                <a:sym typeface="Montserrat"/>
              </a:rPr>
              <a:t>ALTA Conversao tem:</a:t>
            </a:r>
            <a:endParaRPr b="1"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GMV +56% MAIOR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Ticket Medio +34% MAIOR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Recebe -24% MENOS ofertas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Usa canais +30%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Converte DESCONTO +108%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Converte RECOMPENSA +62% 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latin typeface="Montserrat"/>
                <a:ea typeface="Montserrat"/>
                <a:cs typeface="Montserrat"/>
                <a:sym typeface="Montserrat"/>
              </a:rPr>
              <a:t>Recomendação:</a:t>
            </a:r>
            <a:endParaRPr b="1"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Focar na qualidade da oferta e não em quantidade para esse cluster (spam)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Priorizar DESCONTO E RECOMPENSA 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Quem tem ticket médio de pedidos </a:t>
            </a: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maior</a:t>
            </a: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(total value/ total pedidos) tem mais chance de converter nesse cluster.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19" title="Captura de Tela 2026-01-11 às 22.42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550" y="2392475"/>
            <a:ext cx="4499696" cy="2586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Captura de Tela 2026-01-11 às 22.47.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9621" y="3165575"/>
            <a:ext cx="2027268" cy="18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247175" y="600275"/>
            <a:ext cx="689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Foi utilizado o p_value para determina se a vari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ável era significativa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285750" y="228600"/>
            <a:ext cx="438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285750" y="590550"/>
            <a:ext cx="8744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C6C7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0" title="ifood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901" y="228598"/>
            <a:ext cx="951700" cy="5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/>
          <p:nvPr/>
        </p:nvSpPr>
        <p:spPr>
          <a:xfrm>
            <a:off x="278999" y="949550"/>
            <a:ext cx="8586000" cy="238200"/>
          </a:xfrm>
          <a:prstGeom prst="roundRect">
            <a:avLst>
              <a:gd fmla="val 16667" name="adj"/>
            </a:avLst>
          </a:prstGeom>
          <a:solidFill>
            <a:srgbClr val="688D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Cluster 1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784850" y="1376650"/>
            <a:ext cx="4136400" cy="87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/>
              <a:t>Segmentação por Quartil: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/>
              <a:t> </a:t>
            </a:r>
            <a:r>
              <a:rPr lang="pt-BR" sz="900"/>
              <a:t> BAIXA Conversão (≤Q1=20%): 1,226 clientes (17.4%)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  MÉDIA Conversão (Q1-Q3):      816 clientes (11.6%)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  ALTA Conversão (≥Q3=33%):  799 clientes (11.3%)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5661775" y="1373650"/>
            <a:ext cx="2453100" cy="16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latin typeface="Montserrat"/>
                <a:ea typeface="Montserrat"/>
                <a:cs typeface="Montserrat"/>
                <a:sym typeface="Montserrat"/>
              </a:rPr>
              <a:t>ALTA Conversao tem:</a:t>
            </a:r>
            <a:endParaRPr b="1"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GMV +24% MAIOR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Ticket Medio +29% MAIOR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Recebe 33% MENOS ofertas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Usa canais +30% MAIS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Converte BOGO +45% MAIS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latin typeface="Montserrat"/>
                <a:ea typeface="Montserrat"/>
                <a:cs typeface="Montserrat"/>
                <a:sym typeface="Montserrat"/>
              </a:rPr>
              <a:t>Recomendação:</a:t>
            </a:r>
            <a:endParaRPr b="1"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Montserrat"/>
                <a:ea typeface="Montserrat"/>
                <a:cs typeface="Montserrat"/>
                <a:sym typeface="Montserrat"/>
              </a:rPr>
              <a:t>  - Focar na qualidade da oferta e não em quantidade para esse cluster (spam)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- Priorizar BOGO (pouco volume maior conversão - slide anterior)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- Quem tem ticket médio de pedidos maior(total value/ total pedidos) tem mais chance de converter nesse cluster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" name="Google Shape;151;p20" title="Captura de Tela 2026-01-11 às 21.49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001" y="3135000"/>
            <a:ext cx="2073513" cy="1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 title="Captura de Tela 2026-01-11 às 21.56.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525" y="2361900"/>
            <a:ext cx="4272476" cy="258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>
            <a:off x="185353" y="139125"/>
            <a:ext cx="7349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Arial"/>
              <a:buNone/>
            </a:pPr>
            <a:r>
              <a:rPr b="1" lang="pt-BR" sz="2800">
                <a:solidFill>
                  <a:srgbClr val="1C1C1E"/>
                </a:solidFill>
                <a:latin typeface="Montserrat"/>
                <a:ea typeface="Montserrat"/>
                <a:cs typeface="Montserrat"/>
                <a:sym typeface="Montserrat"/>
              </a:rPr>
              <a:t>Análises por variáveis significativas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247175" y="600275"/>
            <a:ext cx="689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Foi utilizado o p_value para determina se a variável era significativa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